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914400"/>
            <a:ext cx="2926080" cy="292608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0584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Models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Kalman Filter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for Data Engineers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linear algebra · probability · Python / time-series basics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Models &amp; the Kalman Filter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54864" cy="4160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777240"/>
            <a:ext cx="2642616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777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Foundations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216152"/>
            <a:ext cx="2423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time-series modelling landscape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State Space Model?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linear-Gaussian SSM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goals: filtering, smoothing, prediction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82112" y="77724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777240"/>
            <a:ext cx="54864" cy="4160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777240"/>
            <a:ext cx="2642616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777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Kalman Filter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46704" y="1216152"/>
            <a:ext cx="2423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step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step &amp; Kalman gain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covariance propagation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 Smoother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98464" y="77724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98464" y="777240"/>
            <a:ext cx="54864" cy="4160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777240"/>
            <a:ext cx="2642616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777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Practical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63056" y="1216152"/>
            <a:ext cx="2423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SSMs (EM / MLE)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models: trend + seasonality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AR/ARMA and LSTM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considerations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Time-Series Modelling Landscape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Statistical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24712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207008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AR(p): autoregressive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MA(q): moving average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ARMA(p,q)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(with differencing)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(seasonal)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51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777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/ Probabilistic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124712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9272" y="1207008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Level Model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Linear Trend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TS (UCM)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(exact inference)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Filter (non-linear)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65176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777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24712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9632" y="1207008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/ GRU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Conv. Net (TCN)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(Informer, PatchTST)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N-BEATS / N-HiTS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51960"/>
            <a:ext cx="85953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7939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any AR/ARMA model can be rewritten as a State Space Model — SSMs are a strict generalisation.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State Space Model?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separate the hidden dynamics from the noisy measurements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377440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State  xₜ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61488" y="1709928"/>
            <a:ext cx="7315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463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280160"/>
            <a:ext cx="23774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280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 yₜ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280160"/>
            <a:ext cx="0" cy="-34747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932688"/>
            <a:ext cx="14630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932688"/>
            <a:ext cx="0" cy="34747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949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(transition)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10972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qₜ ~ N(0,Q)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148840"/>
            <a:ext cx="0" cy="2743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423160"/>
            <a:ext cx="10972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 ~ N(0,R)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69080" y="2148840"/>
            <a:ext cx="0" cy="2743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777240"/>
            <a:ext cx="27432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777240"/>
            <a:ext cx="54864" cy="4160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822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1216152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hidden state with full uncertainty (covariance)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data natively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signal: trend · seasonal · noise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updates: O(m³) per time step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Principled probabilistic forecasting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Linear-Gaussian SSM — Full Specification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(transition) equation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  =  F xₜ₋₁  +  B uₜ  +  qₜ ,     qₜ ~ N(0, Q)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84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(measurement) equation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8412480" cy="868680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9572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yₜ  =  H xₜ  +  rₜ ,     rₜ ~ N(0, R)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64992"/>
          <a:ext cx="8412480" cy="16002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54864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(m×1)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state 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(p×1)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(m×m)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transition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(p×m)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(m×k)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input matrix (often omitted)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(m×m)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noise covariance  (PSD)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(p×p)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noise covariance  (PSD)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Inference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8696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2423160" cy="621792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p(xₜ | y₁:ₜ)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state using data up to NOW.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causal. Used in control, streaming pipelines.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777240"/>
            <a:ext cx="26974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8696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91840" y="1353312"/>
            <a:ext cx="2423160" cy="621792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5331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p(xₜ | y₁:T)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91840" y="2084832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state using ALL data (past + future).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non-causal. Best for retrospective analysis.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77724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77724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88696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72200" y="1353312"/>
            <a:ext cx="2423160" cy="621792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5331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p(yₜ₊ₕ | y₁:ₜ)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72200" y="2084832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 steps ahead.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grows with horizon (covariance propagation).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Kalman Filter solves filtering exactly for linear-Gaussian models.  The RTS Smoother solves smoothing in a backward pass.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— Step 1: Predict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state and uncertainty forward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seeing yₜ, we propagate the previous posterior through the dynamics: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4023360" cy="320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state mean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x̂ₜ|ₜ₋₁ = F x̂ₜ₋₁|ₜ₋₁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216152"/>
            <a:ext cx="4023360" cy="320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16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state covariance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731520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54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Pₜ|ₜ₋₁ = F Pₜ₋₁|ₜ₋₁ Fᵀ + Q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6888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05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 does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79806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encodes the physics / dynamics of the system.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(position + velocity):  F = [[1,dt],[0,1]]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46888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054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 does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models how much random drift the state undergoes each step.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Q → trust the observation more than the prediction.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8412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47872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593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9136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p(xₜ | y₁:ₜ₋₁)  =  N( x̂ₜ|ₜ₋₁ ,  Pₜ|ₜ₋₁ 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4622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Gaussian prior over xₜ before the new observation arrives.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— Step 2: Update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the new observation yₜ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yₜ arrives. We correct the prediction using three intermediate quantities: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274320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(residual)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27248" y="1216152"/>
            <a:ext cx="4114800" cy="56692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16152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vₜ  =  yₜ  −  H x̂ₜ|ₜ₋₁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121615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surprised are we by yₜ?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274320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9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covariance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27248" y="1929384"/>
            <a:ext cx="4114800" cy="56692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92938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Sₜ  =  H Pₜ|ₜ₋₁ Hᵀ  +  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192938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spread of vₜ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274320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4261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gain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27248" y="2642616"/>
            <a:ext cx="4114800" cy="56692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642616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Kₜ  =  Pₜ|ₜ₋₁ Hᵀ Sₜ⁻¹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264261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to trust the observation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55848"/>
            <a:ext cx="274320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558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mean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27248" y="3355848"/>
            <a:ext cx="4114800" cy="56692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355848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x̂ₜ|ₜ  =  x̂ₜ|ₜ₋₁  +  Kₜ vₜ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33558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state estimate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274320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690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covariance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27248" y="4069080"/>
            <a:ext cx="4114800" cy="56692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4069080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Pₜ|ₜ  =  (I − Kₜ H) Pₜ|ₜ₋₁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40690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uncertainty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Kₜ → 0 when R large (noisy sensor) → trust prediction.   Kₜ → H⁻¹ when Q large (uncertain dynamics) → trust observation.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Gain — Deep Intuition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Kₜ = Pₜ|ₜ₋₁ Hᵀ Sₜ⁻¹   is the optimal least-squares weighting between prediction and measurement.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371600"/>
            <a:ext cx="40233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→ 0   (R ≫ Q, noisy sensor)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→ H⁻¹  (Q ≫ R, uncertain model)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4023360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0F20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74520"/>
            <a:ext cx="4023360" cy="822960"/>
          </a:xfrm>
          <a:prstGeom prst="rect">
            <a:avLst/>
          </a:prstGeom>
          <a:solidFill>
            <a:srgbClr val="F0FDF9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20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prediction.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the noisy measurement.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920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measurement.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 model is unreliable.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8046720" cy="74980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52928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x̂ₜ|ₜ  =  (1 − KₜH) x̂ₜ|ₜ₋₁   +   Kₜ yₜ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48640" y="3630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of prediction (left) and observation (right)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6908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variance always ≤ prior variance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46227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Pₜ|ₜ  ≤  Pₜ|ₜ₋₁  (in the PSD sense)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Observing can only reduce uncertainty.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406908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406908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114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note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4622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recomputed each step — it stabilises after warm-up.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time-invariant systems, converges to the steady-state gain K∞.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Kalman Filter Recursion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233172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98448"/>
            <a:ext cx="2331720" cy="950976"/>
          </a:xfrm>
          <a:prstGeom prst="rect">
            <a:avLst/>
          </a:prstGeom>
          <a:solidFill>
            <a:srgbClr val="0D1B3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898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x̂₀|₀  =  E[x₀]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P₀|₀   =  Cov[x₀]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24912" y="868680"/>
            <a:ext cx="233172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868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24912" y="1298448"/>
            <a:ext cx="2331720" cy="950976"/>
          </a:xfrm>
          <a:prstGeom prst="rect">
            <a:avLst/>
          </a:prstGeom>
          <a:solidFill>
            <a:srgbClr val="0D1B38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13898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x̂ₜ|ₜ₋₁ = F x̂ₜ₋₁|ₜ₋₁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62072" y="17739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Pₜ|ₜ₋₁  = F Pₜ₋₁|ₜ₋₁ Fᵀ + Q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21224" y="86868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2664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21224" y="1298448"/>
            <a:ext cx="4114800" cy="2103120"/>
          </a:xfrm>
          <a:prstGeom prst="rect">
            <a:avLst/>
          </a:prstGeom>
          <a:solidFill>
            <a:srgbClr val="0D1B3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13898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vₜ = yₜ − H x̂ₜ|ₜ₋₁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58384" y="177393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Sₜ = H Pₜ|ₜ₋₁ Hᵀ + 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58384" y="215798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Kₜ = Pₜ|ₜ₋₁ Hᵀ Sₜ⁻¹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58384" y="25420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x̂ₜ|ₜ = x̂ₜ|ₜ₋₁ + Kₜ vₜ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58384" y="29260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Pₜ|ₜ = (I − KₜH) Pₜ|ₜ₋₁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 for  t = 1, 2, …, 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" y="4407408"/>
            <a:ext cx="8686800" cy="594360"/>
          </a:xfrm>
          <a:prstGeom prst="rect">
            <a:avLst/>
          </a:prstGeom>
          <a:solidFill>
            <a:srgbClr val="0D1B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074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Log-likelihood:    log p(y₁:T) = Σₜ  log N(vₜ ; 0, Sₜ)  = −½ Σₜ [p·log(2π) + log|Sₜ| + vₜᵀ Sₜ⁻¹ vₜ]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 Smoother — Backward Pass for Full Retrospective Estimate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running the forward Kalman filter, the RTS smoother passes backwards to compute p(xₜ | y₁:T).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26187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15568" y="1463040"/>
            <a:ext cx="14264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2032" y="126187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719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44368" y="1463040"/>
            <a:ext cx="14264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26187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719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1463040"/>
            <a:ext cx="14264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26187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719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t=T−1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01968" y="1463040"/>
            <a:ext cx="142646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8432" y="126187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719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forward Kalman filter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084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RTS backward pass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487168"/>
            <a:ext cx="2377440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871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gain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2487168"/>
            <a:ext cx="5989320" cy="56692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487168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Gₜ  =  Pₜ|ₜ  Fᵀ  Pₜ₊₁|ₜ⁻¹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2377440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mean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3200400"/>
            <a:ext cx="5989320" cy="56692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3200400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x̂ₜ|T  =  x̂ₜ|ₜ  +  Gₜ (x̂ₜ₊₁|T − x̂ₜ₊₁|ₜ)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3913632"/>
            <a:ext cx="2377440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136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covariance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88920" y="3913632"/>
            <a:ext cx="5989320" cy="56692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391363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Pₜ|T  =  Pₜ|ₜ  +  Gₜ (Pₜ₊₁|T − Pₜ₊₁|ₜ) Gₜᵀ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O(m³ · T) — same as the forward filter.  The smoother strictly reduces variance: Pₜ|T ≤ Pₜ|ₜ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Time Series — Encoding Domain Knowledge in F and 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structural decomposition can be encoded directly into the SSM matrices — no manual differencing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Level (random walk + noise)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μₜ = μₜ₋₁ + ηₜ  (ηₜ~N(0,σ²_η))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yₜ = μₜ + εₜ        (εₜ~N(0,σ²_ε))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Signal-to-noise ratio: q = σ²_η / σ²_ε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94960" y="133502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06440" y="133502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 = [μₜ]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66420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66420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[1]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199339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199339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[1]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96312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96312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3288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Linear Trend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86207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μₜ = μₜ₋₁ + νₜ₋₁ + ξₜ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νₜ = νₜ₋₁ + ζₜ  (slope evolves)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yₜ = μₜ + εₜ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94960" y="256946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256946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 = [μₜ, νₜ]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289864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28986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[[1,1],[0,1]]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322783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322783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[1, 0]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30752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30752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6732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Seasonal (period 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09651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γₜ = −(γₜ₋₁+…+γₜ₋ₛ₊₁) + ωₜ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of seasonal components ≈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Captures additive seasonality exactly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94960" y="38039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380390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 = [μₜ,νₜ,γₜ,…]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413308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06440" y="413308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block-diag(trend, seasonal)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44622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44622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[1, 0, 1, 0, …]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AR/ARMA as Special Cases of SSM — Companion 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stationary ARMA(p,q) model has an exact SSM representation. This unifies all classical models.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AR(2) in companion 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3977640" cy="1325880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27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yₜ = φ₁yₜ₋₁ + φ₂yₜ₋₂ + εₜ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 = [yₜ, yₜ₋₁]ᵀ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 = lag vector)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572768"/>
            <a:ext cx="4343400" cy="1325880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27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[[φ₁, φ₂],      H = [1, 0]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[1,   0]]      Q = [[σ²,0],[0,0]]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5420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  (no obs. noise)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8412480" cy="1993392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554480"/>
                <a:gridCol w="31089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AR(p)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ARMA(p,q)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Space (SSM)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(lags)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skip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Multivariate (p&gt;1)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+ seasonal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 in F,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propagation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 intervals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 intervals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covariance Pₜ|ₜ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/ streaming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O(m³) per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an SSM — Parameter Estimation via MLE / 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matrices F, H, Q, R are usually unknown and must be learned from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690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(gradient-based)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406908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18488"/>
            <a:ext cx="54864" cy="2816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19072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Kalman filter to evaluate the log-likelihood: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p(y₁:T; θ) = Σₜ log N(vₜ; 0, Sₜ)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w.r.t. θ = {F,H,Q,R} using automatic differentiation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with L-BFGS or Adam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Q ≥ 0, R &gt; 0  (use Cholesky parameterisation)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06908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Expectation-Maximisation (EM)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618488"/>
            <a:ext cx="406908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618488"/>
            <a:ext cx="54864" cy="28163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19072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E-step: run Kalman filter + RTS smoother → compute E[xₜ], E[xₜxₜᵀ], E[xₜxₜ₋₁ᵀ]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M-step: closed-form updates for F, H, Q, R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to increase log-likelihood each iteration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needed — good for high-dimensional θ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slow to converge near flat regions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544568"/>
            <a:ext cx="841248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56285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tip: fix R from sensor specs when available; learn Q by MLE. Use unit-test data with known θ to validate your implementation.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 — The Kalman Filter's Native Superpower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yₜ is missing, simply skip the update step. The filter propagates uncertainty honestly.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120640" cy="3364992"/>
          </a:xfrm>
          <a:prstGeom prst="rect">
            <a:avLst/>
          </a:prstGeom>
          <a:solidFill>
            <a:srgbClr val="0D1B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pseudocode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t, y_t in enumerate(observations):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kf.predict()                 # always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267712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np.isnan(y_t):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615184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kf.update(y_t)           # skip if NaN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96265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else: state mean unchanged,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331012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covariance grows via Q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filtered_mean[t] = kf.x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005072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filtered_cov[t]  = kf.P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1234440"/>
            <a:ext cx="3108960" cy="3364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1234440"/>
            <a:ext cx="54864" cy="3364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298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during a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1719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mean: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203911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propagating via F  (model-based imputation)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24505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77063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by Q each step  (honest uncertainty)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52160" y="31821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gain: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35021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computed  (no obs.)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52160" y="39136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423367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contribution from missing yₜ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AR/ARMA require imputation as a pre-processing step → introduces bias and discards uncertainty.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AR/ARMA vs State Space vs LSTM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251960"/>
        </p:xfrm>
        <a:graphic>
          <a:graphicData uri="http://schemas.openxmlformats.org/drawingml/2006/table">
            <a:tbl>
              <a:tblPr/>
              <a:tblGrid>
                <a:gridCol w="2148840"/>
                <a:gridCol w="1828800"/>
                <a:gridCol w="2286000"/>
                <a:gridCol w="2331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AR(p) / 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(Kalman)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/ GRU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Stationarity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(or difference)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(lags)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+ distributional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(h,c)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/ intervals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 intervals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posterior covariance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(vanilla)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observations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Imputation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(skip update)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Masking / imputation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(φ coefficients)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(decompose F,H)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EKF/UKF (approx.)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(learned)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(50–500)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(50–500)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(1000+)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/ streaming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re-fit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O(m³) per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re-fit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/ VARMA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(vector state)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+ seasonality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differencing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matrices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implicitly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(seconds)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(seconds)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(minutes–hours)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without reg.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Complexity &amp; Engineering Considerations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4864" cy="1993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321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cost: O(m³ + m²p)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216152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state dimension, p = observation dimension.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Sₜ⁻¹ (p×p inversion) — keep p small or use Woodbury identity.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 ≤ 20, p ≤ 10: sub-millisecond on a single CPU core.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77240"/>
            <a:ext cx="54864" cy="19933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8321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stability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216152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Joseph form for covariance update: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Pₜ|ₜ = (I−KH) Pₜ|ₜ₋₁ (I−KH)ᵀ + K R Kᵀ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maintains symmetry and positive semi-definiteness.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Cholesky factorisation over direct matrix inversion.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98648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98648"/>
            <a:ext cx="54864" cy="19933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953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heuristics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337560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prior: P₀ = κ·I with κ = 10⁶ (uninformative).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ergodic systems: set P₀ to the stationary covariance (solve discrete Lyapunov).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initialisation → slow convergence; rarely affects asymptotic performance.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898648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98648"/>
            <a:ext cx="54864" cy="19933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953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 patterns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3337560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filterpy, pykalman, or statsmodels.tsa.statespace.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JAX/GPU: use jax.lax.scan over time steps → JIT + vmap for batch inference.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updates via message queue (Kafka) → stateless filter node per entity.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Beyond the Linear-Gaussian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7724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Kalman Filter (EKF)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161288"/>
            <a:ext cx="3977640" cy="38404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612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Linearise at x̂: F̃ₜ = ∂f/∂x |x̂ₜ,  H̃ₜ = ∂h/∂x |x̂ₜ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Taylor approximation. Works well when non-linearity is mild. Can diverge for highly non-linear systems.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77724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Unscented Kalman Filter (UKF)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18888" y="1161288"/>
            <a:ext cx="3977640" cy="38404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1612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Propagate 2m+1 sigma points through f(·), h(·)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1600200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Third-order accurate (vs first for EKF). No Jacobians needed. Preferred for moderately non-linear systems.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98648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98648"/>
            <a:ext cx="4206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9864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Filter (SMC)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" y="3282696"/>
            <a:ext cx="3977640" cy="38404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8269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p(xₜ | y₁:ₜ) ≈ Σᵢ wᵢₜ δ(xₜ − xᵢₜ)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3721608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non-linear, non-Gaussian. Monte Carlo approximation. Cost O(N·T) where N = particle count. Can handle multimodal posteriors.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898648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98648"/>
            <a:ext cx="420624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89864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State Space Models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18888" y="3282696"/>
            <a:ext cx="3977640" cy="384048"/>
          </a:xfrm>
          <a:prstGeom prst="rect">
            <a:avLst/>
          </a:prstGeom>
          <a:solidFill>
            <a:srgbClr val="F0FD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28269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 = f_θ(xₜ₋₁) + qₜ,   yₜ = g_θ(xₜ) + rₜ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18888" y="3721608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f_θ, g_θ parameterised by neural nets. Trained with ELBO / amortised VI. Examples: KVAE, DMM, Structured State Space (S4).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Monitoring a KPI Time Series in Production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daily active users (DAU) metric with trend, weekly seasonality, and occasional sensor outages.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1248" y="1261872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26464" y="1545336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920240"/>
            <a:ext cx="15910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Linear Trend + Seasonal(7)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dim m = 2 + 7 − 1 = 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51176" y="1261872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36392" y="1545336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4248" y="1920240"/>
            <a:ext cx="15910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84248" y="19202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9933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75688" y="233172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block-diag(Ftrend, Fseas)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[1,0,1,0,0,0,0,0]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61104" y="1261872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545336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1920240"/>
            <a:ext cx="15910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94176" y="19202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19933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(MLE)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85616" y="233172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Optimise Q, R on 90 days 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Log-lik via Kalman recursion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71032" y="1261872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56248" y="1545336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04104" y="1920240"/>
            <a:ext cx="15910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04104" y="19202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19933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95544" y="233172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 → filter node (O(8³) = O(512))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x̂ₜ|ₜ, Pₜ|ₜ downstream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80960" y="1261872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14032" y="1920240"/>
            <a:ext cx="15910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14032" y="19202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19933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05472" y="233172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if innovation vₜ &gt; 3√Sₜ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(standardised residual &gt; 3σ)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434840"/>
            <a:ext cx="859536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sequence {vₜ} should be white noise (zero mean, uncorrelated) if the model is correctly specified. Plot ACF of vₜ as a model diagnostic.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7955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 separate latent dynamics (xₜ) from noisy observations (yₜ) via F, H, Q, 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Kalman filter computes p(xₜ | y₁:ₜ) = N(x̂ₜ|ₜ, Pₜ|ₜ) exactly in O(m³) per step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step propagates uncertainty; update step incorporates yₜ via Kalman gain 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vₜ = yₜ − Hx̂ₜ|ₜ₋₁ is the key diagnostic signal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 smoother adds a backward pass → p(xₜ | y₁:T) with strictly lower variance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AR/ARMA are special cases; SSMs add: missing data handling, full posteriors, structural decomposition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non-linear systems: EKF (linearise) → UKF (sigma points) → Particle filter (Monte Carlo)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3950208"/>
            <a:ext cx="8138160" cy="1051560"/>
          </a:xfrm>
          <a:prstGeom prst="rect">
            <a:avLst/>
          </a:prstGeom>
          <a:solidFill>
            <a:srgbClr val="0D1B3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986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Shumway &amp; Stoffer — "Time Series Analysis and Its Applications" (Springer, 4th ed.)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Durbin &amp; Koopman — "Time Series Analysis by State Space Methods" (Oxford)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Thrun, Burgard &amp; Fox — "Probabilistic Robotics" Ch. 3 (MIT Press)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 — "Pattern Recognition and Machine Learning" Ch. 13 (Springer)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9536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Space Models &amp; the Kalman Filter</dc:title>
  <dc:subject>PptxGenJS Presentation</dc:subject>
  <dc:creator>Data Engineering</dc:creator>
  <cp:lastModifiedBy>Data Engineering</cp:lastModifiedBy>
  <cp:revision>1</cp:revision>
  <dcterms:created xsi:type="dcterms:W3CDTF">2026-03-25T12:28:35Z</dcterms:created>
  <dcterms:modified xsi:type="dcterms:W3CDTF">2026-03-25T12:28:35Z</dcterms:modified>
</cp:coreProperties>
</file>